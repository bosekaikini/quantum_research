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1b3c56f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1b3c56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1b3c56f2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1b3c56f2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1b3c56f2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1b3c56f2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1b3c56f2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1b3c56f2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1b6d74c2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1b6d74c2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1b6d74c2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1b6d74c2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375bebfeb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375bebfeb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375bebfeb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375bebfeb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375bebfeb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375bebfeb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375bebfeb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375bebfeb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375bebfeb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375bebfeb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375bebfeb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375bebfeb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375bebfeb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375bebfeb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375bebfeb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375bebfeb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1b3c56f2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1b3c56f2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1e62aca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1e62aca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Week 3:</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Bose and Dao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Deliverables		</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Improve our graphs by incorporating established research best practices, such as including a dotted baseline and adding clear, impactful takeaway statements.</a:t>
            </a:r>
            <a:endParaRPr/>
          </a:p>
          <a:p>
            <a:pPr indent="-311150" lvl="0" marL="457200" rtl="0" algn="l">
              <a:spcBef>
                <a:spcPts val="0"/>
              </a:spcBef>
              <a:spcAft>
                <a:spcPts val="0"/>
              </a:spcAft>
              <a:buSzPts val="1300"/>
              <a:buChar char="●"/>
            </a:pPr>
            <a:r>
              <a:rPr lang="en"/>
              <a:t>Add metrics for EPS, PE, and Dividend to see which metric is the most informative</a:t>
            </a:r>
            <a:endParaRPr/>
          </a:p>
          <a:p>
            <a:pPr indent="-311150" lvl="0" marL="457200" rtl="0" algn="l">
              <a:spcBef>
                <a:spcPts val="0"/>
              </a:spcBef>
              <a:spcAft>
                <a:spcPts val="0"/>
              </a:spcAft>
              <a:buSzPts val="1300"/>
              <a:buChar char="●"/>
            </a:pPr>
            <a:r>
              <a:rPr lang="en"/>
              <a:t>After finding the most important metric, randomize the quantity of stock</a:t>
            </a:r>
            <a:endParaRPr/>
          </a:p>
          <a:p>
            <a:pPr indent="-311150" lvl="0" marL="457200" rtl="0" algn="l">
              <a:spcBef>
                <a:spcPts val="0"/>
              </a:spcBef>
              <a:spcAft>
                <a:spcPts val="0"/>
              </a:spcAft>
              <a:buSzPts val="1300"/>
              <a:buChar char="●"/>
            </a:pPr>
            <a:r>
              <a:rPr lang="en"/>
              <a:t>Literature review with surveys of portfolio optimization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Parameters (Review)</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Initial Budget: $10,000</a:t>
            </a:r>
            <a:endParaRPr/>
          </a:p>
          <a:p>
            <a:pPr indent="-311150" lvl="0" marL="457200" rtl="0" algn="l">
              <a:spcBef>
                <a:spcPts val="0"/>
              </a:spcBef>
              <a:spcAft>
                <a:spcPts val="0"/>
              </a:spcAft>
              <a:buSzPts val="1300"/>
              <a:buChar char="●"/>
            </a:pPr>
            <a:r>
              <a:rPr lang="en"/>
              <a:t>Strategies</a:t>
            </a:r>
            <a:endParaRPr/>
          </a:p>
          <a:p>
            <a:pPr indent="-298450" lvl="1" marL="914400" rtl="0" algn="l">
              <a:spcBef>
                <a:spcPts val="0"/>
              </a:spcBef>
              <a:spcAft>
                <a:spcPts val="0"/>
              </a:spcAft>
              <a:buSzPts val="1100"/>
              <a:buChar char="○"/>
            </a:pPr>
            <a:r>
              <a:rPr lang="en"/>
              <a:t>Buy and hold (benchmark)</a:t>
            </a:r>
            <a:endParaRPr/>
          </a:p>
          <a:p>
            <a:pPr indent="-298450" lvl="1" marL="914400" rtl="0" algn="l">
              <a:spcBef>
                <a:spcPts val="0"/>
              </a:spcBef>
              <a:spcAft>
                <a:spcPts val="0"/>
              </a:spcAft>
              <a:buSzPts val="1100"/>
              <a:buChar char="○"/>
            </a:pPr>
            <a:r>
              <a:rPr lang="en"/>
              <a:t>Random number of stocks</a:t>
            </a:r>
            <a:endParaRPr/>
          </a:p>
          <a:p>
            <a:pPr indent="-298450" lvl="1" marL="914400" rtl="0" algn="l">
              <a:spcBef>
                <a:spcPts val="0"/>
              </a:spcBef>
              <a:spcAft>
                <a:spcPts val="0"/>
              </a:spcAft>
              <a:buSzPts val="1100"/>
              <a:buChar char="○"/>
            </a:pPr>
            <a:r>
              <a:rPr lang="en"/>
              <a:t>Random stock selection</a:t>
            </a:r>
            <a:endParaRPr/>
          </a:p>
          <a:p>
            <a:pPr indent="-298450" lvl="1" marL="914400" rtl="0" algn="l">
              <a:spcBef>
                <a:spcPts val="0"/>
              </a:spcBef>
              <a:spcAft>
                <a:spcPts val="0"/>
              </a:spcAft>
              <a:buSzPts val="1100"/>
              <a:buChar char="○"/>
            </a:pPr>
            <a:r>
              <a:rPr lang="en"/>
              <a:t>Random portfolio composition</a:t>
            </a:r>
            <a:endParaRPr/>
          </a:p>
          <a:p>
            <a:pPr indent="-298450" lvl="1" marL="914400" rtl="0" algn="l">
              <a:spcBef>
                <a:spcPts val="0"/>
              </a:spcBef>
              <a:spcAft>
                <a:spcPts val="0"/>
              </a:spcAft>
              <a:buSzPts val="1100"/>
              <a:buChar char="○"/>
            </a:pPr>
            <a:r>
              <a:rPr lang="en"/>
              <a:t>Random dollar cost averaging</a:t>
            </a:r>
            <a:endParaRPr/>
          </a:p>
          <a:p>
            <a:pPr indent="-298450" lvl="1" marL="914400" rtl="0" algn="l">
              <a:spcBef>
                <a:spcPts val="0"/>
              </a:spcBef>
              <a:spcAft>
                <a:spcPts val="0"/>
              </a:spcAft>
              <a:buSzPts val="1100"/>
              <a:buChar char="○"/>
            </a:pPr>
            <a:r>
              <a:rPr lang="en"/>
              <a:t>Metrics</a:t>
            </a:r>
            <a:endParaRPr/>
          </a:p>
          <a:p>
            <a:pPr indent="-298450" lvl="1" marL="914400" rtl="0" algn="l">
              <a:spcBef>
                <a:spcPts val="0"/>
              </a:spcBef>
              <a:spcAft>
                <a:spcPts val="0"/>
              </a:spcAft>
              <a:buSzPts val="1100"/>
              <a:buChar char="○"/>
            </a:pPr>
            <a:r>
              <a:rPr lang="en"/>
              <a:t>Complete random</a:t>
            </a:r>
            <a:endParaRPr/>
          </a:p>
          <a:p>
            <a:pPr indent="-311150" lvl="0" marL="457200" rtl="0" algn="l">
              <a:spcBef>
                <a:spcPts val="0"/>
              </a:spcBef>
              <a:spcAft>
                <a:spcPts val="0"/>
              </a:spcAft>
              <a:buSzPts val="1300"/>
              <a:buChar char="●"/>
            </a:pPr>
            <a:r>
              <a:rPr lang="en"/>
              <a:t>Long-term investing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7800" y="10621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Strategy Returns</a:t>
            </a:r>
            <a:endParaRPr/>
          </a:p>
        </p:txBody>
      </p:sp>
      <p:pic>
        <p:nvPicPr>
          <p:cNvPr id="105" name="Google Shape;105;p16"/>
          <p:cNvPicPr preferRelativeResize="0"/>
          <p:nvPr/>
        </p:nvPicPr>
        <p:blipFill>
          <a:blip r:embed="rId3">
            <a:alphaModFix/>
          </a:blip>
          <a:stretch>
            <a:fillRect/>
          </a:stretch>
        </p:blipFill>
        <p:spPr>
          <a:xfrm>
            <a:off x="3210700" y="1597350"/>
            <a:ext cx="5009100" cy="2484700"/>
          </a:xfrm>
          <a:prstGeom prst="rect">
            <a:avLst/>
          </a:prstGeom>
          <a:noFill/>
          <a:ln>
            <a:noFill/>
          </a:ln>
        </p:spPr>
      </p:pic>
      <p:sp>
        <p:nvSpPr>
          <p:cNvPr id="106" name="Google Shape;106;p16"/>
          <p:cNvSpPr txBox="1"/>
          <p:nvPr/>
        </p:nvSpPr>
        <p:spPr>
          <a:xfrm>
            <a:off x="777850" y="3975650"/>
            <a:ext cx="8141400" cy="10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Lato"/>
                <a:ea typeface="Lato"/>
                <a:cs typeface="Lato"/>
                <a:sym typeface="Lato"/>
              </a:rPr>
              <a:t>The </a:t>
            </a:r>
            <a:r>
              <a:rPr b="1" lang="en" sz="1600">
                <a:solidFill>
                  <a:schemeClr val="accent1"/>
                </a:solidFill>
                <a:latin typeface="Lato"/>
                <a:ea typeface="Lato"/>
                <a:cs typeface="Lato"/>
                <a:sym typeface="Lato"/>
              </a:rPr>
              <a:t>selection and composition</a:t>
            </a:r>
            <a:r>
              <a:rPr b="1" lang="en" sz="1600">
                <a:solidFill>
                  <a:schemeClr val="accent1"/>
                </a:solidFill>
                <a:latin typeface="Lato"/>
                <a:ea typeface="Lato"/>
                <a:cs typeface="Lato"/>
                <a:sym typeface="Lato"/>
              </a:rPr>
              <a:t> strategy established extreme dominance almost immediately, soaring to nearly an 83% return and vastly outperforming all other methods.</a:t>
            </a:r>
            <a:endParaRPr b="1" sz="16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Strategy Returns</a:t>
            </a:r>
            <a:endParaRPr/>
          </a:p>
        </p:txBody>
      </p:sp>
      <p:pic>
        <p:nvPicPr>
          <p:cNvPr id="112" name="Google Shape;112;p17"/>
          <p:cNvPicPr preferRelativeResize="0"/>
          <p:nvPr/>
        </p:nvPicPr>
        <p:blipFill>
          <a:blip r:embed="rId3">
            <a:alphaModFix/>
          </a:blip>
          <a:stretch>
            <a:fillRect/>
          </a:stretch>
        </p:blipFill>
        <p:spPr>
          <a:xfrm>
            <a:off x="4118151" y="1786975"/>
            <a:ext cx="4542249" cy="2253125"/>
          </a:xfrm>
          <a:prstGeom prst="rect">
            <a:avLst/>
          </a:prstGeom>
          <a:noFill/>
          <a:ln>
            <a:noFill/>
          </a:ln>
        </p:spPr>
      </p:pic>
      <p:sp>
        <p:nvSpPr>
          <p:cNvPr id="113" name="Google Shape;113;p17"/>
          <p:cNvSpPr txBox="1"/>
          <p:nvPr/>
        </p:nvSpPr>
        <p:spPr>
          <a:xfrm>
            <a:off x="573300" y="4204150"/>
            <a:ext cx="8322300" cy="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While the standalone Selection strategy regressed somewhat in this block, the metric EPS showed to perform above the SP500 for the most part.</a:t>
            </a:r>
            <a:endParaRPr b="1"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Strategy Returns</a:t>
            </a:r>
            <a:endParaRPr/>
          </a:p>
        </p:txBody>
      </p:sp>
      <p:pic>
        <p:nvPicPr>
          <p:cNvPr id="119" name="Google Shape;119;p18"/>
          <p:cNvPicPr preferRelativeResize="0"/>
          <p:nvPr/>
        </p:nvPicPr>
        <p:blipFill>
          <a:blip r:embed="rId3">
            <a:alphaModFix/>
          </a:blip>
          <a:stretch>
            <a:fillRect/>
          </a:stretch>
        </p:blipFill>
        <p:spPr>
          <a:xfrm>
            <a:off x="3688600" y="1751125"/>
            <a:ext cx="5059376" cy="2509625"/>
          </a:xfrm>
          <a:prstGeom prst="rect">
            <a:avLst/>
          </a:prstGeom>
          <a:noFill/>
          <a:ln>
            <a:noFill/>
          </a:ln>
        </p:spPr>
      </p:pic>
      <p:sp>
        <p:nvSpPr>
          <p:cNvPr id="120" name="Google Shape;120;p18"/>
          <p:cNvSpPr txBox="1"/>
          <p:nvPr/>
        </p:nvSpPr>
        <p:spPr>
          <a:xfrm>
            <a:off x="681700" y="4360950"/>
            <a:ext cx="8283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In this iteration, all versions performed near to the baseline.</a:t>
            </a:r>
            <a:endParaRPr b="1" sz="13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Metric Performance and Graph Takeaways </a:t>
            </a:r>
            <a:endParaRPr/>
          </a:p>
        </p:txBody>
      </p:sp>
      <p:sp>
        <p:nvSpPr>
          <p:cNvPr id="126" name="Google Shape;126;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Within 3 runs of random,</a:t>
            </a:r>
            <a:endParaRPr/>
          </a:p>
          <a:p>
            <a:pPr indent="-311150" lvl="0" marL="457200" rtl="0" algn="l">
              <a:spcBef>
                <a:spcPts val="1200"/>
              </a:spcBef>
              <a:spcAft>
                <a:spcPts val="0"/>
              </a:spcAft>
              <a:buSzPts val="1300"/>
              <a:buChar char="●"/>
            </a:pPr>
            <a:r>
              <a:rPr lang="en"/>
              <a:t>Metric EPS: ~20.8 percent return</a:t>
            </a:r>
            <a:endParaRPr/>
          </a:p>
          <a:p>
            <a:pPr indent="-311150" lvl="0" marL="457200" rtl="0" algn="l">
              <a:spcBef>
                <a:spcPts val="0"/>
              </a:spcBef>
              <a:spcAft>
                <a:spcPts val="0"/>
              </a:spcAft>
              <a:buSzPts val="1300"/>
              <a:buChar char="●"/>
            </a:pPr>
            <a:r>
              <a:rPr lang="en"/>
              <a:t>Metric PE: ~ 10.4 percent return</a:t>
            </a:r>
            <a:endParaRPr/>
          </a:p>
          <a:p>
            <a:pPr indent="-311150" lvl="0" marL="457200" rtl="0" algn="l">
              <a:spcBef>
                <a:spcPts val="0"/>
              </a:spcBef>
              <a:spcAft>
                <a:spcPts val="0"/>
              </a:spcAft>
              <a:buSzPts val="1300"/>
              <a:buChar char="●"/>
            </a:pPr>
            <a:r>
              <a:rPr lang="en"/>
              <a:t>Metric Dividend Yield: ~ -14 percent return</a:t>
            </a:r>
            <a:endParaRPr/>
          </a:p>
          <a:p>
            <a:pPr indent="0" lvl="0" marL="0" rtl="0" algn="l">
              <a:spcBef>
                <a:spcPts val="1200"/>
              </a:spcBef>
              <a:spcAft>
                <a:spcPts val="0"/>
              </a:spcAft>
              <a:buNone/>
            </a:pPr>
            <a:r>
              <a:t/>
            </a:r>
            <a:endParaRPr b="1"/>
          </a:p>
          <a:p>
            <a:pPr indent="0" lvl="0" marL="0" rtl="0" algn="l">
              <a:spcBef>
                <a:spcPts val="1200"/>
              </a:spcBef>
              <a:spcAft>
                <a:spcPts val="1200"/>
              </a:spcAft>
              <a:buNone/>
            </a:pPr>
            <a:r>
              <a:rPr b="1" lang="en"/>
              <a:t>These values obviously can easily change with each random run, but we see that Metric EPS seems to be the most important metric.</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EPS</a:t>
            </a:r>
            <a:endParaRPr/>
          </a:p>
        </p:txBody>
      </p:sp>
      <p:sp>
        <p:nvSpPr>
          <p:cNvPr id="132" name="Google Shape;132;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After discovering that EPS was the most vital deterministic metric, we wanted to randomize the number of stocks that we chose while focusing on EPS as the most important metric. Instead of forcing exactly n=5 stocks to be selected on every rebalance cycle, the new randomized eps strategy dynamically picks a random quantity of top EPS stocks [1-10] on each rebalance day.</a:t>
            </a:r>
            <a:endParaRPr b="1"/>
          </a:p>
          <a:p>
            <a:pPr indent="-311150" lvl="0" marL="457200" rtl="0" algn="l">
              <a:spcBef>
                <a:spcPts val="1200"/>
              </a:spcBef>
              <a:spcAft>
                <a:spcPts val="0"/>
              </a:spcAft>
              <a:buSzPts val="1300"/>
              <a:buChar char="●"/>
            </a:pPr>
            <a:r>
              <a:rPr b="1" lang="en"/>
              <a:t>We did 3 passes once again.</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EPS Returns</a:t>
            </a:r>
            <a:endParaRPr/>
          </a:p>
        </p:txBody>
      </p:sp>
      <p:sp>
        <p:nvSpPr>
          <p:cNvPr id="138" name="Google Shape;138;p21"/>
          <p:cNvSpPr txBox="1"/>
          <p:nvPr/>
        </p:nvSpPr>
        <p:spPr>
          <a:xfrm>
            <a:off x="681700" y="4360950"/>
            <a:ext cx="8283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The randomized strategy performed well here, with a ~53% return, showing high upside potential when the randomizer selects an optimal quantity of top EPS stocks.</a:t>
            </a:r>
            <a:endParaRPr b="1" sz="1300">
              <a:solidFill>
                <a:schemeClr val="accent1"/>
              </a:solidFill>
              <a:latin typeface="Lato"/>
              <a:ea typeface="Lato"/>
              <a:cs typeface="Lato"/>
              <a:sym typeface="Lato"/>
            </a:endParaRPr>
          </a:p>
        </p:txBody>
      </p:sp>
      <p:pic>
        <p:nvPicPr>
          <p:cNvPr id="139" name="Google Shape;139;p21" title="Screenshot 2026-03-30 at 1.23.49 PM.png"/>
          <p:cNvPicPr preferRelativeResize="0"/>
          <p:nvPr/>
        </p:nvPicPr>
        <p:blipFill>
          <a:blip r:embed="rId3">
            <a:alphaModFix/>
          </a:blip>
          <a:stretch>
            <a:fillRect/>
          </a:stretch>
        </p:blipFill>
        <p:spPr>
          <a:xfrm>
            <a:off x="3402125" y="2006250"/>
            <a:ext cx="4157034" cy="22022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EPS Returns</a:t>
            </a:r>
            <a:endParaRPr/>
          </a:p>
        </p:txBody>
      </p:sp>
      <p:sp>
        <p:nvSpPr>
          <p:cNvPr id="145" name="Google Shape;145;p22"/>
          <p:cNvSpPr txBox="1"/>
          <p:nvPr/>
        </p:nvSpPr>
        <p:spPr>
          <a:xfrm>
            <a:off x="681700" y="4360950"/>
            <a:ext cx="8283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Performance significantly degraded to ~22% in this pass. It underperformed the S&amp;P 500 but still protected the initial budget and returned a positive yield.</a:t>
            </a:r>
            <a:endParaRPr b="1" sz="1300">
              <a:solidFill>
                <a:schemeClr val="accent1"/>
              </a:solidFill>
              <a:latin typeface="Lato"/>
              <a:ea typeface="Lato"/>
              <a:cs typeface="Lato"/>
              <a:sym typeface="Lato"/>
            </a:endParaRPr>
          </a:p>
        </p:txBody>
      </p:sp>
      <p:pic>
        <p:nvPicPr>
          <p:cNvPr id="146" name="Google Shape;146;p22"/>
          <p:cNvPicPr preferRelativeResize="0"/>
          <p:nvPr/>
        </p:nvPicPr>
        <p:blipFill>
          <a:blip r:embed="rId3">
            <a:alphaModFix/>
          </a:blip>
          <a:stretch>
            <a:fillRect/>
          </a:stretch>
        </p:blipFill>
        <p:spPr>
          <a:xfrm>
            <a:off x="3514150" y="2006250"/>
            <a:ext cx="4072747" cy="220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EPS Returns</a:t>
            </a:r>
            <a:endParaRPr/>
          </a:p>
        </p:txBody>
      </p:sp>
      <p:sp>
        <p:nvSpPr>
          <p:cNvPr id="152" name="Google Shape;152;p23"/>
          <p:cNvSpPr txBox="1"/>
          <p:nvPr/>
        </p:nvSpPr>
        <p:spPr>
          <a:xfrm>
            <a:off x="681700" y="4360950"/>
            <a:ext cx="8283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The portfolio struggled with only a ~12.8% return. This highlights the stark inconsistency and high volatility of randomly bounding stock quantities, heavily restricting the upside even when the underlying selection metric (EPS) is strong.</a:t>
            </a:r>
            <a:endParaRPr b="1" sz="1300">
              <a:solidFill>
                <a:schemeClr val="accent1"/>
              </a:solidFill>
              <a:latin typeface="Lato"/>
              <a:ea typeface="Lato"/>
              <a:cs typeface="Lato"/>
              <a:sym typeface="Lato"/>
            </a:endParaRPr>
          </a:p>
        </p:txBody>
      </p:sp>
      <p:pic>
        <p:nvPicPr>
          <p:cNvPr id="153" name="Google Shape;153;p23"/>
          <p:cNvPicPr preferRelativeResize="0"/>
          <p:nvPr/>
        </p:nvPicPr>
        <p:blipFill>
          <a:blip r:embed="rId3">
            <a:alphaModFix/>
          </a:blip>
          <a:stretch>
            <a:fillRect/>
          </a:stretch>
        </p:blipFill>
        <p:spPr>
          <a:xfrm>
            <a:off x="3971750" y="1853850"/>
            <a:ext cx="4072747" cy="220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Portfolio Optimization Literature Review</a:t>
            </a:r>
            <a:endParaRPr/>
          </a:p>
        </p:txBody>
      </p:sp>
      <p:sp>
        <p:nvSpPr>
          <p:cNvPr id="159" name="Google Shape;159;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Several methods depending on type of portfolio: defensive, aggressive, income, hybrid, speculative</a:t>
            </a:r>
            <a:endParaRPr/>
          </a:p>
          <a:p>
            <a:pPr indent="-311150" lvl="0" marL="457200" rtl="0" algn="l">
              <a:spcBef>
                <a:spcPts val="0"/>
              </a:spcBef>
              <a:spcAft>
                <a:spcPts val="0"/>
              </a:spcAft>
              <a:buSzPts val="1300"/>
              <a:buChar char="●"/>
            </a:pPr>
            <a:r>
              <a:rPr lang="en"/>
              <a:t>Mean-variance optimization: assesses risk through covariance of asset returns for given returns or risk</a:t>
            </a:r>
            <a:endParaRPr/>
          </a:p>
          <a:p>
            <a:pPr indent="-311150" lvl="0" marL="457200" rtl="0" algn="l">
              <a:spcBef>
                <a:spcPts val="0"/>
              </a:spcBef>
              <a:spcAft>
                <a:spcPts val="0"/>
              </a:spcAft>
              <a:buSzPts val="1300"/>
              <a:buChar char="●"/>
            </a:pPr>
            <a:r>
              <a:rPr lang="en"/>
              <a:t>Conditional value at risk returns: estimates potential loss over specific timeframes of individual assets</a:t>
            </a:r>
            <a:endParaRPr/>
          </a:p>
          <a:p>
            <a:pPr indent="-311150" lvl="0" marL="457200" rtl="0" algn="l">
              <a:spcBef>
                <a:spcPts val="0"/>
              </a:spcBef>
              <a:spcAft>
                <a:spcPts val="0"/>
              </a:spcAft>
              <a:buSzPts val="1300"/>
              <a:buChar char="●"/>
            </a:pPr>
            <a:r>
              <a:rPr lang="en"/>
              <a:t>Reinforced learning &amp; Long short-term memory models: learning innate dependencies and extracting features over time</a:t>
            </a:r>
            <a:endParaRPr/>
          </a:p>
          <a:p>
            <a:pPr indent="-311150" lvl="0" marL="457200" rtl="0" algn="l">
              <a:spcBef>
                <a:spcPts val="0"/>
              </a:spcBef>
              <a:spcAft>
                <a:spcPts val="0"/>
              </a:spcAft>
              <a:buSzPts val="1300"/>
              <a:buChar char="●"/>
            </a:pPr>
            <a:r>
              <a:rPr lang="en"/>
              <a:t>Swarm methods (e.g, firefly, ant colony, beehive): randomly generates a population of sample portfolios and has them ‘move’ towards optimal ones (can also specify cardinality)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165" name="Google Shape;165;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Classical methods are limited by how much information they can analyze (especially for dynamic methods)</a:t>
            </a:r>
            <a:endParaRPr/>
          </a:p>
          <a:p>
            <a:pPr indent="-311150" lvl="0" marL="457200" rtl="0" algn="l">
              <a:spcBef>
                <a:spcPts val="0"/>
              </a:spcBef>
              <a:spcAft>
                <a:spcPts val="0"/>
              </a:spcAft>
              <a:buSzPts val="1300"/>
              <a:buChar char="●"/>
            </a:pPr>
            <a:r>
              <a:rPr lang="en"/>
              <a:t>Dependence on historical methods (especially for some less complex methods like mean-variance) lead to overfitting</a:t>
            </a:r>
            <a:endParaRPr/>
          </a:p>
          <a:p>
            <a:pPr indent="-311150" lvl="0" marL="457200" rtl="0" algn="l">
              <a:spcBef>
                <a:spcPts val="0"/>
              </a:spcBef>
              <a:spcAft>
                <a:spcPts val="0"/>
              </a:spcAft>
              <a:buSzPts val="1300"/>
              <a:buChar char="●"/>
            </a:pPr>
            <a:r>
              <a:rPr lang="en"/>
              <a:t>High-dimensional search spaces can be much more easily navigated by the quantum methods </a:t>
            </a:r>
            <a:endParaRPr/>
          </a:p>
          <a:p>
            <a:pPr indent="-311150" lvl="0" marL="457200" rtl="0" algn="l">
              <a:spcBef>
                <a:spcPts val="0"/>
              </a:spcBef>
              <a:spcAft>
                <a:spcPts val="0"/>
              </a:spcAft>
              <a:buSzPts val="1300"/>
              <a:buChar char="●"/>
            </a:pPr>
            <a:r>
              <a:rPr lang="en"/>
              <a:t>Early testing by firms like IBM and HSBC has shown quantum methods can outperform classical yields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Quantum methods</a:t>
            </a:r>
            <a:endParaRPr/>
          </a:p>
        </p:txBody>
      </p:sp>
      <p:sp>
        <p:nvSpPr>
          <p:cNvPr id="171" name="Google Shape;171;p26"/>
          <p:cNvSpPr txBox="1"/>
          <p:nvPr>
            <p:ph idx="1" type="body"/>
          </p:nvPr>
        </p:nvSpPr>
        <p:spPr>
          <a:xfrm>
            <a:off x="729450" y="2078875"/>
            <a:ext cx="7688700" cy="2675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Quantum tabu search: local search algorithm using qubits to prevent overfitting with its own custom fitness function. Has yet to be applied in finance but has great potential (https://arxiv.org/pdf/2404.13203)</a:t>
            </a:r>
            <a:endParaRPr/>
          </a:p>
          <a:p>
            <a:pPr indent="-311150" lvl="0" marL="457200" rtl="0" algn="l">
              <a:spcBef>
                <a:spcPts val="0"/>
              </a:spcBef>
              <a:spcAft>
                <a:spcPts val="0"/>
              </a:spcAft>
              <a:buSzPts val="1300"/>
              <a:buChar char="●"/>
            </a:pPr>
            <a:r>
              <a:rPr lang="en"/>
              <a:t>Quantum swarm optimization: quantum principles can guide optimization algorithms for swarm algorithms like cat swarm (https://arxiv.org/abs/2402.16863#:~:text=The%20Quantum%2Dinspired%20Chaotic%20Salp%20Swarm%20Optimization%20(QCSSO),Improve%20population%20diversity%20*%20Speed%20up%20convergence)</a:t>
            </a:r>
            <a:endParaRPr/>
          </a:p>
          <a:p>
            <a:pPr indent="-311150" lvl="0" marL="457200" rtl="0" algn="l">
              <a:spcBef>
                <a:spcPts val="0"/>
              </a:spcBef>
              <a:spcAft>
                <a:spcPts val="0"/>
              </a:spcAft>
              <a:buSzPts val="1300"/>
              <a:buChar char="●"/>
            </a:pPr>
            <a:r>
              <a:rPr lang="en"/>
              <a:t>Quantum evolutionary algorithms: balances convergence speed and parallel search capability (https://arxiv.org/html/2601.11029v1)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Notes</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Causal analysis</a:t>
            </a:r>
            <a:endParaRPr/>
          </a:p>
          <a:p>
            <a:pPr indent="-311150" lvl="0" marL="457200" rtl="0" algn="l">
              <a:spcBef>
                <a:spcPts val="0"/>
              </a:spcBef>
              <a:spcAft>
                <a:spcPts val="0"/>
              </a:spcAft>
              <a:buSzPts val="1300"/>
              <a:buChar char="●"/>
            </a:pPr>
            <a:r>
              <a:rPr lang="en"/>
              <a:t>Quantum portfolio composition (should we stick with composition?)</a:t>
            </a:r>
            <a:endParaRPr/>
          </a:p>
          <a:p>
            <a:pPr indent="-311150" lvl="0" marL="457200" rtl="0" algn="l">
              <a:spcBef>
                <a:spcPts val="0"/>
              </a:spcBef>
              <a:spcAft>
                <a:spcPts val="0"/>
              </a:spcAft>
              <a:buSzPts val="1300"/>
              <a:buChar char="●"/>
            </a:pPr>
            <a:r>
              <a:rPr lang="en"/>
              <a:t>Future approach to work and presentation (how should we test things independently?)</a:t>
            </a:r>
            <a:endParaRPr/>
          </a:p>
          <a:p>
            <a:pPr indent="-311150" lvl="0" marL="457200" rtl="0" algn="l">
              <a:spcBef>
                <a:spcPts val="0"/>
              </a:spcBef>
              <a:spcAft>
                <a:spcPts val="0"/>
              </a:spcAft>
              <a:buSzPts val="1300"/>
              <a:buChar char="●"/>
            </a:pPr>
            <a:r>
              <a:rPr lang="en"/>
              <a:t>ID card access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Notes from 3/23</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Fix the quantity. N = 1</a:t>
            </a:r>
            <a:endParaRPr/>
          </a:p>
          <a:p>
            <a:pPr indent="-311150" lvl="0" marL="457200" rtl="0" algn="l">
              <a:spcBef>
                <a:spcPts val="0"/>
              </a:spcBef>
              <a:spcAft>
                <a:spcPts val="0"/>
              </a:spcAft>
              <a:buSzPts val="1300"/>
              <a:buChar char="●"/>
            </a:pPr>
            <a:r>
              <a:rPr lang="en"/>
              <a:t>If you can’t buy 10, then don’t buy</a:t>
            </a:r>
            <a:endParaRPr/>
          </a:p>
          <a:p>
            <a:pPr indent="-311150" lvl="0" marL="457200" rtl="0" algn="l">
              <a:spcBef>
                <a:spcPts val="0"/>
              </a:spcBef>
              <a:spcAft>
                <a:spcPts val="0"/>
              </a:spcAft>
              <a:buSzPts val="1300"/>
              <a:buChar char="●"/>
            </a:pPr>
            <a:r>
              <a:rPr lang="en"/>
              <a:t>EPS, dividend, PE and we want to see which metric is the most informative</a:t>
            </a:r>
            <a:endParaRPr/>
          </a:p>
          <a:p>
            <a:pPr indent="-311150" lvl="0" marL="457200" rtl="0" algn="l">
              <a:spcBef>
                <a:spcPts val="0"/>
              </a:spcBef>
              <a:spcAft>
                <a:spcPts val="0"/>
              </a:spcAft>
              <a:buSzPts val="1300"/>
              <a:buChar char="●"/>
            </a:pPr>
            <a:r>
              <a:rPr lang="en"/>
              <a:t>After we find the most important metric, then randomize the quantity of stocks</a:t>
            </a:r>
            <a:endParaRPr/>
          </a:p>
          <a:p>
            <a:pPr indent="-311150" lvl="0" marL="457200" rtl="0" algn="l">
              <a:spcBef>
                <a:spcPts val="0"/>
              </a:spcBef>
              <a:spcAft>
                <a:spcPts val="0"/>
              </a:spcAft>
              <a:buSzPts val="1300"/>
              <a:buChar char="●"/>
            </a:pPr>
            <a:r>
              <a:rPr lang="en"/>
              <a:t>Find survey of portfolio optimization to read. Then we can find newer methods later</a:t>
            </a:r>
            <a:endParaRPr/>
          </a:p>
          <a:p>
            <a:pPr indent="-311150" lvl="0" marL="457200" rtl="0" algn="l">
              <a:spcBef>
                <a:spcPts val="0"/>
              </a:spcBef>
              <a:spcAft>
                <a:spcPts val="0"/>
              </a:spcAft>
              <a:buSzPts val="1300"/>
              <a:buChar char="●"/>
            </a:pPr>
            <a:r>
              <a:rPr lang="en"/>
              <a:t>Bandit methods(a form of reinforcement learning)</a:t>
            </a:r>
            <a:endParaRPr/>
          </a:p>
          <a:p>
            <a:pPr indent="-311150" lvl="0" marL="457200" rtl="0" algn="l">
              <a:spcBef>
                <a:spcPts val="0"/>
              </a:spcBef>
              <a:spcAft>
                <a:spcPts val="0"/>
              </a:spcAft>
              <a:buSzPts val="1300"/>
              <a:buChar char="●"/>
            </a:pPr>
            <a:r>
              <a:rPr lang="en"/>
              <a:t>Recommendation paper that Dr. Biplav will send. Papers at the intersection of learning and search</a:t>
            </a:r>
            <a:endParaRPr/>
          </a:p>
          <a:p>
            <a:pPr indent="-311150" lvl="0" marL="457200" rtl="0" algn="l">
              <a:spcBef>
                <a:spcPts val="0"/>
              </a:spcBef>
              <a:spcAft>
                <a:spcPts val="0"/>
              </a:spcAft>
              <a:buSzPts val="1300"/>
              <a:buChar char="●"/>
            </a:pPr>
            <a:r>
              <a:rPr lang="en"/>
              <a:t>Only really consider papers that we can </a:t>
            </a:r>
            <a:r>
              <a:rPr lang="en"/>
              <a:t>replicate </a:t>
            </a:r>
            <a:r>
              <a:rPr lang="en"/>
              <a:t> and implement ourselves.</a:t>
            </a:r>
            <a:endParaRPr/>
          </a:p>
          <a:p>
            <a:pPr indent="-311150" lvl="0" marL="457200" rtl="0" algn="l">
              <a:spcBef>
                <a:spcPts val="0"/>
              </a:spcBef>
              <a:spcAft>
                <a:spcPts val="0"/>
              </a:spcAft>
              <a:buSzPts val="1300"/>
              <a:buChar char="●"/>
            </a:pPr>
            <a:r>
              <a:rPr lang="en"/>
              <a:t>Update all of the lines. Add punchlines and also make the baseline in black and dotted lines.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